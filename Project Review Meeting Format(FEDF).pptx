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86" r:id="rId2"/>
    <p:sldId id="260" r:id="rId3"/>
    <p:sldId id="278" r:id="rId4"/>
    <p:sldId id="257" r:id="rId5"/>
    <p:sldId id="321" r:id="rId6"/>
    <p:sldId id="326" r:id="rId7"/>
    <p:sldId id="322" r:id="rId8"/>
    <p:sldId id="323" r:id="rId9"/>
    <p:sldId id="324" r:id="rId10"/>
    <p:sldId id="277" r:id="rId11"/>
    <p:sldId id="320" r:id="rId12"/>
    <p:sldId id="328" r:id="rId13"/>
    <p:sldId id="327" r:id="rId1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816BF-7DF4-4A87-9968-9E51204D00C0}" v="3" dt="2026-06-04T09:10:06.6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p:cViewPr varScale="1">
        <p:scale>
          <a:sx n="78" d="100"/>
          <a:sy n="78" d="100"/>
        </p:scale>
        <p:origin x="1733"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chu Siddhartha" userId="28cc560e0e4bb77c" providerId="LiveId" clId="{A9143E25-A13D-43C4-9F11-A67B98F36B00}"/>
    <pc:docChg chg="undo custSel addSld delSld modSld sldOrd">
      <pc:chgData name="Bachu Siddhartha" userId="28cc560e0e4bb77c" providerId="LiveId" clId="{A9143E25-A13D-43C4-9F11-A67B98F36B00}" dt="2026-06-11T08:59:55.607" v="105" actId="20577"/>
      <pc:docMkLst>
        <pc:docMk/>
      </pc:docMkLst>
      <pc:sldChg chg="modSp mod">
        <pc:chgData name="Bachu Siddhartha" userId="28cc560e0e4bb77c" providerId="LiveId" clId="{A9143E25-A13D-43C4-9F11-A67B98F36B00}" dt="2026-06-11T08:59:55.607" v="105" actId="20577"/>
        <pc:sldMkLst>
          <pc:docMk/>
          <pc:sldMk cId="0" sldId="286"/>
        </pc:sldMkLst>
        <pc:spChg chg="mod">
          <ac:chgData name="Bachu Siddhartha" userId="28cc560e0e4bb77c" providerId="LiveId" clId="{A9143E25-A13D-43C4-9F11-A67B98F36B00}" dt="2026-06-11T08:59:55.607" v="105" actId="20577"/>
          <ac:spMkLst>
            <pc:docMk/>
            <pc:sldMk cId="0" sldId="286"/>
            <ac:spMk id="3" creationId="{00000000-0000-0000-0000-000000000000}"/>
          </ac:spMkLst>
        </pc:spChg>
      </pc:sldChg>
      <pc:sldChg chg="modSp mod">
        <pc:chgData name="Bachu Siddhartha" userId="28cc560e0e4bb77c" providerId="LiveId" clId="{A9143E25-A13D-43C4-9F11-A67B98F36B00}" dt="2026-06-04T08:56:48.554" v="18" actId="5793"/>
        <pc:sldMkLst>
          <pc:docMk/>
          <pc:sldMk cId="0" sldId="320"/>
        </pc:sldMkLst>
        <pc:spChg chg="mod">
          <ac:chgData name="Bachu Siddhartha" userId="28cc560e0e4bb77c" providerId="LiveId" clId="{A9143E25-A13D-43C4-9F11-A67B98F36B00}" dt="2026-06-04T08:56:48.554" v="18" actId="5793"/>
          <ac:spMkLst>
            <pc:docMk/>
            <pc:sldMk cId="0" sldId="320"/>
            <ac:spMk id="6" creationId="{DEC677EB-3C69-1E22-5FF9-F70E3FD9963F}"/>
          </ac:spMkLst>
        </pc:spChg>
      </pc:sldChg>
      <pc:sldChg chg="ord">
        <pc:chgData name="Bachu Siddhartha" userId="28cc560e0e4bb77c" providerId="LiveId" clId="{A9143E25-A13D-43C4-9F11-A67B98F36B00}" dt="2026-06-04T09:09:56.159" v="40"/>
        <pc:sldMkLst>
          <pc:docMk/>
          <pc:sldMk cId="1558411544" sldId="327"/>
        </pc:sldMkLst>
      </pc:sldChg>
      <pc:sldChg chg="addSp modSp new mod">
        <pc:chgData name="Bachu Siddhartha" userId="28cc560e0e4bb77c" providerId="LiveId" clId="{A9143E25-A13D-43C4-9F11-A67B98F36B00}" dt="2026-06-04T09:11:48.511" v="63" actId="113"/>
        <pc:sldMkLst>
          <pc:docMk/>
          <pc:sldMk cId="1822813648" sldId="328"/>
        </pc:sldMkLst>
        <pc:spChg chg="mod">
          <ac:chgData name="Bachu Siddhartha" userId="28cc560e0e4bb77c" providerId="LiveId" clId="{A9143E25-A13D-43C4-9F11-A67B98F36B00}" dt="2026-06-04T09:10:04.092" v="53" actId="20577"/>
          <ac:spMkLst>
            <pc:docMk/>
            <pc:sldMk cId="1822813648" sldId="328"/>
            <ac:spMk id="2" creationId="{24D346E6-3932-6DF2-5D1D-C6721485D63F}"/>
          </ac:spMkLst>
        </pc:spChg>
        <pc:graphicFrameChg chg="add mod modGraphic">
          <ac:chgData name="Bachu Siddhartha" userId="28cc560e0e4bb77c" providerId="LiveId" clId="{A9143E25-A13D-43C4-9F11-A67B98F36B00}" dt="2026-06-04T09:11:48.511" v="63" actId="113"/>
          <ac:graphicFrameMkLst>
            <pc:docMk/>
            <pc:sldMk cId="1822813648" sldId="328"/>
            <ac:graphicFrameMk id="3" creationId="{8222F998-6400-51B0-969F-DCDB61986BB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6/11/2026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Doctor Appointment Booking System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lvl="1">
              <a:lnSpc>
                <a:spcPct val="80000"/>
              </a:lnSpc>
              <a:defRPr/>
            </a:pPr>
            <a:r>
              <a:rPr lang="en-US" sz="2900" dirty="0">
                <a:solidFill>
                  <a:srgbClr val="0D0D0D"/>
                </a:solidFill>
                <a:latin typeface="Times New Roman" pitchFamily="18" charset="0"/>
                <a:cs typeface="Times New Roman" pitchFamily="18" charset="0"/>
              </a:rPr>
              <a:t>   Name  </a:t>
            </a:r>
            <a:r>
              <a:rPr lang="en-US" sz="2900" dirty="0" err="1">
                <a:solidFill>
                  <a:srgbClr val="0D0D0D"/>
                </a:solidFill>
                <a:latin typeface="Times New Roman" pitchFamily="18" charset="0"/>
                <a:cs typeface="Times New Roman" pitchFamily="18" charset="0"/>
              </a:rPr>
              <a:t>B.Siddhartha</a:t>
            </a:r>
            <a:r>
              <a:rPr lang="en-US" sz="2900" dirty="0">
                <a:solidFill>
                  <a:srgbClr val="0D0D0D"/>
                </a:solidFill>
                <a:latin typeface="Times New Roman" pitchFamily="18" charset="0"/>
                <a:cs typeface="Times New Roman" pitchFamily="18" charset="0"/>
              </a:rPr>
              <a:t>                   roll 2500090225</a:t>
            </a:r>
          </a:p>
          <a:p>
            <a:pPr lvl="1">
              <a:lnSpc>
                <a:spcPct val="80000"/>
              </a:lnSpc>
              <a:defRPr/>
            </a:pPr>
            <a:r>
              <a:rPr lang="en-US" sz="2900" dirty="0">
                <a:solidFill>
                  <a:srgbClr val="0D0D0D"/>
                </a:solidFill>
                <a:latin typeface="Times New Roman" pitchFamily="18" charset="0"/>
                <a:cs typeface="Times New Roman" pitchFamily="18" charset="0"/>
              </a:rPr>
              <a:t>Name  </a:t>
            </a:r>
            <a:r>
              <a:rPr lang="en-US" sz="2900" dirty="0" err="1">
                <a:solidFill>
                  <a:srgbClr val="0D0D0D"/>
                </a:solidFill>
                <a:latin typeface="Times New Roman" pitchFamily="18" charset="0"/>
                <a:cs typeface="Times New Roman" pitchFamily="18" charset="0"/>
              </a:rPr>
              <a:t>C.V.JaswanthReddy</a:t>
            </a:r>
            <a:r>
              <a:rPr lang="en-US" sz="2900" dirty="0">
                <a:solidFill>
                  <a:srgbClr val="0D0D0D"/>
                </a:solidFill>
                <a:latin typeface="Times New Roman" pitchFamily="18" charset="0"/>
                <a:cs typeface="Times New Roman" pitchFamily="18" charset="0"/>
              </a:rPr>
              <a:t>          roll 2520080025</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20</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err="1">
                <a:solidFill>
                  <a:srgbClr val="00B0F0"/>
                </a:solidFill>
                <a:latin typeface="Times New Roman" pitchFamily="18" charset="0"/>
                <a:cs typeface="Times New Roman" pitchFamily="18" charset="0"/>
              </a:rPr>
              <a:t>Ms.D.Pavithra</a:t>
            </a:r>
            <a:endParaRPr lang="en-US" sz="34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77500" lnSpcReduction="20000"/>
          </a:bodyPr>
          <a:lstStyle/>
          <a:p>
            <a:pPr marL="0" indent="0">
              <a:buNone/>
            </a:pPr>
            <a:endParaRPr lang="en-IN" b="1" dirty="0"/>
          </a:p>
          <a:p>
            <a:r>
              <a:rPr lang="en-IN" dirty="0"/>
              <a:t>The </a:t>
            </a:r>
            <a:r>
              <a:rPr lang="en-IN" b="1" dirty="0"/>
              <a:t>Doctor Appointment Booking System with Smart Queue Management</a:t>
            </a:r>
            <a:r>
              <a:rPr lang="en-IN" dirty="0"/>
              <a:t> is a web-based application that allows patients to register, log in, select doctors based on specialization, and book appointments online. The system provides a unique token number for each appointment and displays real-time queue status along with estimated waiting time.</a:t>
            </a:r>
          </a:p>
          <a:p>
            <a:r>
              <a:rPr lang="en-IN" dirty="0"/>
              <a:t>It also includes notification alerts to inform patients when their turn is approaching, reducing waiting time and improving hospital efficiency. Developed using </a:t>
            </a:r>
            <a:r>
              <a:rPr lang="en-IN" b="1" dirty="0"/>
              <a:t>React.js</a:t>
            </a:r>
            <a:r>
              <a:rPr lang="en-IN" dirty="0"/>
              <a:t>, the system offers a simple, user-friendly, and efficient solution for modern healthcare appointment management.</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0000" lnSpcReduction="20000"/>
          </a:bodyPr>
          <a:lstStyle/>
          <a:p>
            <a:r>
              <a:rPr lang="en-IN" dirty="0"/>
              <a:t>The Doctor Appointment Booking System with Smart Queue Management is a web-based application designed to simplify the process of scheduling medical appointments. It allows patients to register, log in, select doctors based on specialization, choose hospitals, and book appointments online.</a:t>
            </a:r>
          </a:p>
          <a:p>
            <a:r>
              <a:rPr lang="en-IN" dirty="0"/>
              <a:t>The system includes a Smart Queue feature that assigns token numbers, displays real-time queue status, estimates waiting time, and sends notifications when a patient's turn is approaching. This helps reduce waiting time, improve patient convenience, and enhance hospital efficiency.</a:t>
            </a:r>
          </a:p>
          <a:p>
            <a:r>
              <a:rPr lang="en-IN" dirty="0"/>
              <a:t>Developed using React.js, the system provides a user-friendly and modern solution for managing doctor appointments digitally while improving the overall healthcare experience.</a:t>
            </a:r>
          </a:p>
          <a:p>
            <a:endParaRPr lang="en-US"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77500" lnSpcReduction="20000"/>
          </a:bodyPr>
          <a:lstStyle/>
          <a:p>
            <a:r>
              <a:rPr lang="en-IN" dirty="0"/>
              <a:t>Traditional hospital appointment systems often rely on manual booking procedures, resulting in long waiting times, overcrowding, and inefficient patient management. Patients frequently face difficulties in scheduling appointments, tracking their turn, and estimating waiting times. Lack of real-time updates can lead to inconvenience and missed appointments.</a:t>
            </a:r>
          </a:p>
          <a:p>
            <a:r>
              <a:rPr lang="en-IN" dirty="0"/>
              <a:t>The Doctor Appointment Booking System with Smart Queue Management aims to solve these issues by providing an online platform for appointment booking, real-time queue tracking, token-based scheduling, and notification alerts. The system improves patient convenience, reduces waiting time, and enhances the overall efficiency of healthcare services.</a:t>
            </a:r>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8" name="Content Placeholder 7">
            <a:extLst>
              <a:ext uri="{FF2B5EF4-FFF2-40B4-BE49-F238E27FC236}">
                <a16:creationId xmlns:a16="http://schemas.microsoft.com/office/drawing/2014/main" id="{CAE713D0-31FA-A533-8DCA-62A07544B029}"/>
              </a:ext>
            </a:extLst>
          </p:cNvPr>
          <p:cNvPicPr>
            <a:picLocks noGrp="1" noChangeAspect="1"/>
          </p:cNvPicPr>
          <p:nvPr>
            <p:ph idx="1"/>
          </p:nvPr>
        </p:nvPicPr>
        <p:blipFill>
          <a:blip r:embed="rId2"/>
          <a:stretch>
            <a:fillRect/>
          </a:stretch>
        </p:blipFill>
        <p:spPr>
          <a:xfrm>
            <a:off x="1676400" y="1234282"/>
            <a:ext cx="5715000" cy="4891882"/>
          </a:xfrm>
          <a:prstGeom prst="rect">
            <a:avLst/>
          </a:prstGeo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960439"/>
            <a:ext cx="8229600" cy="5668962"/>
          </a:xfrm>
        </p:spPr>
        <p:txBody>
          <a:bodyPr>
            <a:normAutofit lnSpcReduction="10000"/>
          </a:bodyPr>
          <a:lstStyle/>
          <a:p>
            <a:r>
              <a:rPr lang="en-IN" sz="1800" b="1" dirty="0"/>
              <a:t>Objective 1: Simplify Appointment Booking</a:t>
            </a:r>
          </a:p>
          <a:p>
            <a:r>
              <a:rPr lang="en-IN" sz="1800" b="1" dirty="0"/>
              <a:t>Justification:</a:t>
            </a:r>
            <a:br>
              <a:rPr lang="en-IN" sz="1800" dirty="0"/>
            </a:br>
            <a:r>
              <a:rPr lang="en-IN" sz="1800" dirty="0"/>
              <a:t>Traditional appointment booking methods require patients to visit hospitals or make phone calls, which is time-consuming. The system allows patients to book appointments online quickly and conveniently.</a:t>
            </a:r>
          </a:p>
          <a:p>
            <a:r>
              <a:rPr lang="en-IN" sz="1800" b="1" dirty="0"/>
              <a:t>Objective 2: Reduce Patient Waiting Time</a:t>
            </a:r>
          </a:p>
          <a:p>
            <a:r>
              <a:rPr lang="en-IN" sz="1800" b="1" dirty="0"/>
              <a:t>Justification:</a:t>
            </a:r>
            <a:br>
              <a:rPr lang="en-IN" sz="1800" dirty="0"/>
            </a:br>
            <a:r>
              <a:rPr lang="en-IN" sz="1800" dirty="0"/>
              <a:t>Long waiting times are a common problem in hospitals. By providing estimated waiting times and token-based queue management, patients can plan their visit more efficiently.</a:t>
            </a:r>
          </a:p>
          <a:p>
            <a:r>
              <a:rPr lang="en-IN" sz="1800" b="1" dirty="0"/>
              <a:t>Objective 3: Implement Smart Queue Management</a:t>
            </a:r>
          </a:p>
          <a:p>
            <a:r>
              <a:rPr lang="en-IN" sz="1800" b="1" dirty="0"/>
              <a:t>Justification:</a:t>
            </a:r>
            <a:br>
              <a:rPr lang="en-IN" sz="1800" dirty="0"/>
            </a:br>
            <a:r>
              <a:rPr lang="en-IN" sz="1800" dirty="0"/>
              <a:t>The smart queue system assigns token numbers and tracks the current queue status. This helps hospitals manage patient flow effectively and reduces overcrowding</a:t>
            </a:r>
            <a:r>
              <a:rPr lang="en-IN" dirty="0"/>
              <a:t>.</a:t>
            </a:r>
          </a:p>
          <a:p>
            <a:r>
              <a:rPr lang="en-IN" sz="1700" b="1" dirty="0"/>
              <a:t>Objective 4: Provide Real-Time Notifications</a:t>
            </a:r>
          </a:p>
          <a:p>
            <a:r>
              <a:rPr lang="en-IN" sz="1700" b="1" dirty="0"/>
              <a:t>Justification:</a:t>
            </a:r>
            <a:br>
              <a:rPr lang="en-IN" sz="1700" dirty="0"/>
            </a:br>
            <a:r>
              <a:rPr lang="en-IN" sz="1700" dirty="0"/>
              <a:t>Patients often miss their appointments due to lack of updates. Notification alerts inform users when their turn is approaching, improving punctuality and reducing missed appointments.</a:t>
            </a:r>
          </a:p>
          <a:p>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881216" y="335756"/>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6" name="Content Placeholder 5">
            <a:extLst>
              <a:ext uri="{FF2B5EF4-FFF2-40B4-BE49-F238E27FC236}">
                <a16:creationId xmlns:a16="http://schemas.microsoft.com/office/drawing/2014/main" id="{8ED78163-555C-998C-8DE4-7534CE088DFA}"/>
              </a:ext>
            </a:extLst>
          </p:cNvPr>
          <p:cNvPicPr>
            <a:picLocks noGrp="1" noChangeAspect="1"/>
          </p:cNvPicPr>
          <p:nvPr>
            <p:ph idx="1"/>
          </p:nvPr>
        </p:nvPicPr>
        <p:blipFill>
          <a:blip r:embed="rId2"/>
          <a:stretch>
            <a:fillRect/>
          </a:stretch>
        </p:blipFill>
        <p:spPr>
          <a:xfrm>
            <a:off x="1177528" y="1280318"/>
            <a:ext cx="6788944" cy="4525963"/>
          </a:xfrm>
          <a:prstGeom prst="rect">
            <a:avLst/>
          </a:prstGeom>
        </p:spPr>
      </p:pic>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143001"/>
            <a:ext cx="8229600" cy="4983164"/>
          </a:xfrm>
        </p:spPr>
        <p:txBody>
          <a:bodyPr>
            <a:normAutofit fontScale="92500" lnSpcReduction="20000"/>
          </a:bodyPr>
          <a:lstStyle/>
          <a:p>
            <a:pPr marL="0" indent="0">
              <a:buNone/>
            </a:pPr>
            <a:r>
              <a:rPr lang="en-IN" dirty="0"/>
              <a:t>• Online Appointment Booking</a:t>
            </a:r>
          </a:p>
          <a:p>
            <a:pPr marL="0" indent="0">
              <a:buNone/>
            </a:pPr>
            <a:r>
              <a:rPr lang="en-IN" dirty="0"/>
              <a:t>• Smart Queue Management</a:t>
            </a:r>
          </a:p>
          <a:p>
            <a:pPr marL="0" indent="0">
              <a:buNone/>
            </a:pPr>
            <a:r>
              <a:rPr lang="en-IN" dirty="0"/>
              <a:t>• Reduced Waiting Time</a:t>
            </a:r>
          </a:p>
          <a:p>
            <a:pPr marL="0" indent="0">
              <a:buNone/>
            </a:pPr>
            <a:r>
              <a:rPr lang="en-IN" dirty="0"/>
              <a:t>• Real-Time Queue Tracking</a:t>
            </a:r>
          </a:p>
          <a:p>
            <a:pPr marL="0" indent="0">
              <a:buNone/>
            </a:pPr>
            <a:r>
              <a:rPr lang="en-IN" dirty="0"/>
              <a:t>• Notification Alerts</a:t>
            </a:r>
          </a:p>
          <a:p>
            <a:pPr marL="0" indent="0">
              <a:buNone/>
            </a:pPr>
            <a:r>
              <a:rPr lang="en-IN" dirty="0"/>
              <a:t>• Improved Patient Experience</a:t>
            </a:r>
          </a:p>
          <a:p>
            <a:pPr marL="0" indent="0">
              <a:buNone/>
            </a:pPr>
            <a:r>
              <a:rPr lang="en-IN" dirty="0"/>
              <a:t>• Better Hospital Resource Utilization</a:t>
            </a:r>
          </a:p>
          <a:p>
            <a:pPr marL="0" indent="0">
              <a:buNone/>
            </a:pPr>
            <a:r>
              <a:rPr lang="en-IN" dirty="0"/>
              <a:t>• Digital Record Management</a:t>
            </a:r>
          </a:p>
          <a:p>
            <a:pPr marL="0" indent="0">
              <a:buNone/>
            </a:pPr>
            <a:r>
              <a:rPr lang="en-IN" dirty="0"/>
              <a:t>• Enhanced Healthcare Accessibility</a:t>
            </a:r>
          </a:p>
          <a:p>
            <a:pPr marL="0" indent="0">
              <a:buNone/>
            </a:pPr>
            <a:r>
              <a:rPr lang="en-IN" dirty="0"/>
              <a:t>• Efficient and Modern Healthcare Service</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lnSpcReduction="10000"/>
          </a:bodyPr>
          <a:lstStyle/>
          <a:p>
            <a:pPr marL="0" indent="0">
              <a:buNone/>
            </a:pPr>
            <a:r>
              <a:rPr lang="en-IN" sz="2000" b="1" dirty="0"/>
              <a:t>Conclusion:</a:t>
            </a:r>
            <a:endParaRPr lang="en-IN" sz="2000" dirty="0"/>
          </a:p>
          <a:p>
            <a:r>
              <a:rPr lang="en-IN" sz="2000" dirty="0"/>
              <a:t>Simplifies doctor appointment booking. </a:t>
            </a:r>
          </a:p>
          <a:p>
            <a:r>
              <a:rPr lang="en-IN" sz="2000" dirty="0"/>
              <a:t>Reduces waiting time through smart queue management. </a:t>
            </a:r>
          </a:p>
          <a:p>
            <a:r>
              <a:rPr lang="en-IN" sz="2000" dirty="0"/>
              <a:t>Provides real-time tracking and notifications. </a:t>
            </a:r>
          </a:p>
          <a:p>
            <a:r>
              <a:rPr lang="en-IN" sz="2000" dirty="0"/>
              <a:t>Improves patient experience and hospital efficiency.</a:t>
            </a:r>
          </a:p>
          <a:p>
            <a:pPr marL="0" indent="0">
              <a:buNone/>
            </a:pPr>
            <a:r>
              <a:rPr lang="en-IN" sz="2100" b="1" dirty="0"/>
              <a:t>Future Scope:</a:t>
            </a:r>
            <a:endParaRPr lang="en-IN" sz="2100" dirty="0"/>
          </a:p>
          <a:p>
            <a:r>
              <a:rPr lang="en-IN" sz="2100" dirty="0"/>
              <a:t>Video consultations </a:t>
            </a:r>
          </a:p>
          <a:p>
            <a:r>
              <a:rPr lang="en-IN" sz="2100" dirty="0"/>
              <a:t>AI doctor recommendations </a:t>
            </a:r>
          </a:p>
          <a:p>
            <a:r>
              <a:rPr lang="en-IN" sz="2100" dirty="0"/>
              <a:t>Mobile app development </a:t>
            </a:r>
          </a:p>
          <a:p>
            <a:r>
              <a:rPr lang="en-IN" sz="2100" dirty="0"/>
              <a:t>Online payments </a:t>
            </a:r>
          </a:p>
          <a:p>
            <a:r>
              <a:rPr lang="en-IN" sz="2100" dirty="0"/>
              <a:t>SMS/Email notifications </a:t>
            </a:r>
          </a:p>
          <a:p>
            <a:r>
              <a:rPr lang="en-IN" sz="2100" dirty="0"/>
              <a:t>Emergency priority system </a:t>
            </a:r>
          </a:p>
          <a:p>
            <a:r>
              <a:rPr lang="en-IN" sz="2100" dirty="0"/>
              <a:t>Cloud deployment </a:t>
            </a:r>
          </a:p>
          <a:p>
            <a:r>
              <a:rPr lang="en-IN" sz="2100" dirty="0"/>
              <a:t>Multi-language support</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fontScale="70000" lnSpcReduction="20000"/>
          </a:bodyPr>
          <a:lstStyle/>
          <a:p>
            <a:pPr marL="0" indent="0">
              <a:buNone/>
            </a:pPr>
            <a:endParaRPr lang="en-IN" dirty="0"/>
          </a:p>
          <a:p>
            <a:endParaRPr lang="en-IN" dirty="0"/>
          </a:p>
          <a:p>
            <a:r>
              <a:rPr lang="en-IN" dirty="0"/>
              <a:t>React.js Official Documentation - https://react.dev/</a:t>
            </a:r>
          </a:p>
          <a:p>
            <a:r>
              <a:rPr lang="en-IN" dirty="0"/>
              <a:t>[2] React Router Documentation - https://reactrouter.com/</a:t>
            </a:r>
          </a:p>
          <a:p>
            <a:r>
              <a:rPr lang="en-IN" dirty="0"/>
              <a:t>[3] MDN Web Docs - https://developer.mozilla.org/</a:t>
            </a:r>
          </a:p>
          <a:p>
            <a:r>
              <a:rPr lang="en-IN" dirty="0"/>
              <a:t>[4] W3Schools Tutorials - https://www.w3schools.com/</a:t>
            </a:r>
          </a:p>
          <a:p>
            <a:r>
              <a:rPr lang="en-IN" dirty="0"/>
              <a:t>[5] Notifications API Documentation - https://developer.mozilla.org/en-US/docs/Web/API/Notifications_API</a:t>
            </a:r>
          </a:p>
          <a:p>
            <a:r>
              <a:rPr lang="en-IN" dirty="0"/>
              <a:t>[6] Bootstrap Documentation - https://getbootstrap.com/</a:t>
            </a:r>
          </a:p>
          <a:p>
            <a:r>
              <a:rPr lang="en-IN" dirty="0"/>
              <a:t>[7] GitHub Documentation - https://docs.github.com/</a:t>
            </a:r>
          </a:p>
          <a:p>
            <a:r>
              <a:rPr lang="en-IN" dirty="0"/>
              <a:t>[8] Queue Management System Concepts - https://www.sciencedirect.com/topics/computer-science/queue-management</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46E6-3932-6DF2-5D1D-C6721485D63F}"/>
              </a:ext>
            </a:extLst>
          </p:cNvPr>
          <p:cNvSpPr>
            <a:spLocks noGrp="1"/>
          </p:cNvSpPr>
          <p:nvPr>
            <p:ph type="title"/>
          </p:nvPr>
        </p:nvSpPr>
        <p:spPr/>
        <p:txBody>
          <a:bodyPr/>
          <a:lstStyle/>
          <a:p>
            <a:r>
              <a:rPr lang="en-US" dirty="0"/>
              <a:t>CO’S MAPPING</a:t>
            </a:r>
            <a:endParaRPr lang="en-IN" dirty="0"/>
          </a:p>
        </p:txBody>
      </p:sp>
      <p:graphicFrame>
        <p:nvGraphicFramePr>
          <p:cNvPr id="3" name="Table 2">
            <a:extLst>
              <a:ext uri="{FF2B5EF4-FFF2-40B4-BE49-F238E27FC236}">
                <a16:creationId xmlns:a16="http://schemas.microsoft.com/office/drawing/2014/main" id="{8222F998-6400-51B0-969F-DCDB61986BB0}"/>
              </a:ext>
            </a:extLst>
          </p:cNvPr>
          <p:cNvGraphicFramePr>
            <a:graphicFrameLocks noGrp="1"/>
          </p:cNvGraphicFramePr>
          <p:nvPr>
            <p:extLst>
              <p:ext uri="{D42A27DB-BD31-4B8C-83A1-F6EECF244321}">
                <p14:modId xmlns:p14="http://schemas.microsoft.com/office/powerpoint/2010/main" val="3103353490"/>
              </p:ext>
            </p:extLst>
          </p:nvPr>
        </p:nvGraphicFramePr>
        <p:xfrm>
          <a:off x="457200" y="1760061"/>
          <a:ext cx="8229600" cy="4236720"/>
        </p:xfrm>
        <a:graphic>
          <a:graphicData uri="http://schemas.openxmlformats.org/drawingml/2006/table">
            <a:tbl>
              <a:tblPr/>
              <a:tblGrid>
                <a:gridCol w="4114800">
                  <a:extLst>
                    <a:ext uri="{9D8B030D-6E8A-4147-A177-3AD203B41FA5}">
                      <a16:colId xmlns:a16="http://schemas.microsoft.com/office/drawing/2014/main" val="1583996529"/>
                    </a:ext>
                  </a:extLst>
                </a:gridCol>
                <a:gridCol w="4114800">
                  <a:extLst>
                    <a:ext uri="{9D8B030D-6E8A-4147-A177-3AD203B41FA5}">
                      <a16:colId xmlns:a16="http://schemas.microsoft.com/office/drawing/2014/main" val="3193676182"/>
                    </a:ext>
                  </a:extLst>
                </a:gridCol>
              </a:tblGrid>
              <a:tr h="0">
                <a:tc>
                  <a:txBody>
                    <a:bodyPr/>
                    <a:lstStyle/>
                    <a:p>
                      <a:pPr>
                        <a:buNone/>
                      </a:pPr>
                      <a:r>
                        <a:rPr lang="en-IN" sz="2000" b="1" dirty="0"/>
                        <a:t>CO’S:</a:t>
                      </a:r>
                    </a:p>
                  </a:txBody>
                  <a:tcPr anchor="ctr">
                    <a:lnL>
                      <a:noFill/>
                    </a:lnL>
                    <a:lnR>
                      <a:noFill/>
                    </a:lnR>
                    <a:lnT>
                      <a:noFill/>
                    </a:lnT>
                    <a:lnB>
                      <a:noFill/>
                    </a:lnB>
                    <a:noFill/>
                  </a:tcPr>
                </a:tc>
                <a:tc>
                  <a:txBody>
                    <a:bodyPr/>
                    <a:lstStyle/>
                    <a:p>
                      <a:pPr>
                        <a:buNone/>
                      </a:pPr>
                      <a:r>
                        <a:rPr lang="en-IN" sz="2000" b="1" dirty="0"/>
                        <a:t>Topics Covered in Project:</a:t>
                      </a:r>
                    </a:p>
                  </a:txBody>
                  <a:tcPr anchor="ctr">
                    <a:lnL>
                      <a:noFill/>
                    </a:lnL>
                    <a:lnR>
                      <a:noFill/>
                    </a:lnR>
                    <a:lnT>
                      <a:noFill/>
                    </a:lnT>
                    <a:lnB>
                      <a:noFill/>
                    </a:lnB>
                    <a:noFill/>
                  </a:tcPr>
                </a:tc>
                <a:extLst>
                  <a:ext uri="{0D108BD9-81ED-4DB2-BD59-A6C34878D82A}">
                    <a16:rowId xmlns:a16="http://schemas.microsoft.com/office/drawing/2014/main" val="2707198339"/>
                  </a:ext>
                </a:extLst>
              </a:tr>
              <a:tr h="0">
                <a:tc>
                  <a:txBody>
                    <a:bodyPr/>
                    <a:lstStyle/>
                    <a:p>
                      <a:pPr>
                        <a:buNone/>
                      </a:pPr>
                      <a:r>
                        <a:rPr lang="en-IN"/>
                        <a:t>CO1</a:t>
                      </a:r>
                    </a:p>
                  </a:txBody>
                  <a:tcPr anchor="ctr">
                    <a:lnL>
                      <a:noFill/>
                    </a:lnL>
                    <a:lnR>
                      <a:noFill/>
                    </a:lnR>
                    <a:lnT>
                      <a:noFill/>
                    </a:lnT>
                    <a:lnB>
                      <a:noFill/>
                    </a:lnB>
                    <a:noFill/>
                  </a:tcPr>
                </a:tc>
                <a:tc>
                  <a:txBody>
                    <a:bodyPr/>
                    <a:lstStyle/>
                    <a:p>
                      <a:pPr>
                        <a:buNone/>
                      </a:pPr>
                      <a:r>
                        <a:rPr lang="en-IN"/>
                        <a:t>React Components, JSX, Component-Based Architecture</a:t>
                      </a:r>
                    </a:p>
                  </a:txBody>
                  <a:tcPr anchor="ctr">
                    <a:lnL>
                      <a:noFill/>
                    </a:lnL>
                    <a:lnR>
                      <a:noFill/>
                    </a:lnR>
                    <a:lnT>
                      <a:noFill/>
                    </a:lnT>
                    <a:lnB>
                      <a:noFill/>
                    </a:lnB>
                    <a:noFill/>
                  </a:tcPr>
                </a:tc>
                <a:extLst>
                  <a:ext uri="{0D108BD9-81ED-4DB2-BD59-A6C34878D82A}">
                    <a16:rowId xmlns:a16="http://schemas.microsoft.com/office/drawing/2014/main" val="1964460465"/>
                  </a:ext>
                </a:extLst>
              </a:tr>
              <a:tr h="0">
                <a:tc>
                  <a:txBody>
                    <a:bodyPr/>
                    <a:lstStyle/>
                    <a:p>
                      <a:pPr>
                        <a:buNone/>
                      </a:pPr>
                      <a:r>
                        <a:rPr lang="en-IN"/>
                        <a:t>CO2</a:t>
                      </a:r>
                    </a:p>
                  </a:txBody>
                  <a:tcPr anchor="ctr">
                    <a:lnL>
                      <a:noFill/>
                    </a:lnL>
                    <a:lnR>
                      <a:noFill/>
                    </a:lnR>
                    <a:lnT>
                      <a:noFill/>
                    </a:lnT>
                    <a:lnB>
                      <a:noFill/>
                    </a:lnB>
                    <a:noFill/>
                  </a:tcPr>
                </a:tc>
                <a:tc>
                  <a:txBody>
                    <a:bodyPr/>
                    <a:lstStyle/>
                    <a:p>
                      <a:pPr>
                        <a:buNone/>
                      </a:pPr>
                      <a:r>
                        <a:rPr lang="en-IN"/>
                        <a:t>JavaScript ES6+, Event Handling, Form Validation</a:t>
                      </a:r>
                    </a:p>
                  </a:txBody>
                  <a:tcPr anchor="ctr">
                    <a:lnL>
                      <a:noFill/>
                    </a:lnL>
                    <a:lnR>
                      <a:noFill/>
                    </a:lnR>
                    <a:lnT>
                      <a:noFill/>
                    </a:lnT>
                    <a:lnB>
                      <a:noFill/>
                    </a:lnB>
                    <a:noFill/>
                  </a:tcPr>
                </a:tc>
                <a:extLst>
                  <a:ext uri="{0D108BD9-81ED-4DB2-BD59-A6C34878D82A}">
                    <a16:rowId xmlns:a16="http://schemas.microsoft.com/office/drawing/2014/main" val="431327906"/>
                  </a:ext>
                </a:extLst>
              </a:tr>
              <a:tr h="0">
                <a:tc>
                  <a:txBody>
                    <a:bodyPr/>
                    <a:lstStyle/>
                    <a:p>
                      <a:pPr>
                        <a:buNone/>
                      </a:pPr>
                      <a:r>
                        <a:rPr lang="en-IN" dirty="0"/>
                        <a:t>CO3</a:t>
                      </a:r>
                    </a:p>
                  </a:txBody>
                  <a:tcPr anchor="ctr">
                    <a:lnL>
                      <a:noFill/>
                    </a:lnL>
                    <a:lnR>
                      <a:noFill/>
                    </a:lnR>
                    <a:lnT>
                      <a:noFill/>
                    </a:lnT>
                    <a:lnB>
                      <a:noFill/>
                    </a:lnB>
                    <a:noFill/>
                  </a:tcPr>
                </a:tc>
                <a:tc>
                  <a:txBody>
                    <a:bodyPr/>
                    <a:lstStyle/>
                    <a:p>
                      <a:pPr>
                        <a:buNone/>
                      </a:pPr>
                      <a:r>
                        <a:rPr lang="en-IN"/>
                        <a:t>Functional Components, Props, useState, useEffect</a:t>
                      </a:r>
                    </a:p>
                  </a:txBody>
                  <a:tcPr anchor="ctr">
                    <a:lnL>
                      <a:noFill/>
                    </a:lnL>
                    <a:lnR>
                      <a:noFill/>
                    </a:lnR>
                    <a:lnT>
                      <a:noFill/>
                    </a:lnT>
                    <a:lnB>
                      <a:noFill/>
                    </a:lnB>
                    <a:noFill/>
                  </a:tcPr>
                </a:tc>
                <a:extLst>
                  <a:ext uri="{0D108BD9-81ED-4DB2-BD59-A6C34878D82A}">
                    <a16:rowId xmlns:a16="http://schemas.microsoft.com/office/drawing/2014/main" val="2462512435"/>
                  </a:ext>
                </a:extLst>
              </a:tr>
              <a:tr h="0">
                <a:tc>
                  <a:txBody>
                    <a:bodyPr/>
                    <a:lstStyle/>
                    <a:p>
                      <a:pPr>
                        <a:buNone/>
                      </a:pPr>
                      <a:r>
                        <a:rPr lang="en-IN"/>
                        <a:t>CO4</a:t>
                      </a:r>
                    </a:p>
                  </a:txBody>
                  <a:tcPr anchor="ctr">
                    <a:lnL>
                      <a:noFill/>
                    </a:lnL>
                    <a:lnR>
                      <a:noFill/>
                    </a:lnR>
                    <a:lnT>
                      <a:noFill/>
                    </a:lnT>
                    <a:lnB>
                      <a:noFill/>
                    </a:lnB>
                    <a:noFill/>
                  </a:tcPr>
                </a:tc>
                <a:tc>
                  <a:txBody>
                    <a:bodyPr/>
                    <a:lstStyle/>
                    <a:p>
                      <a:pPr>
                        <a:buNone/>
                      </a:pPr>
                      <a:r>
                        <a:rPr lang="en-IN"/>
                        <a:t>State Management, Queue Tracking, Notifications</a:t>
                      </a:r>
                    </a:p>
                  </a:txBody>
                  <a:tcPr anchor="ctr">
                    <a:lnL>
                      <a:noFill/>
                    </a:lnL>
                    <a:lnR>
                      <a:noFill/>
                    </a:lnR>
                    <a:lnT>
                      <a:noFill/>
                    </a:lnT>
                    <a:lnB>
                      <a:noFill/>
                    </a:lnB>
                    <a:noFill/>
                  </a:tcPr>
                </a:tc>
                <a:extLst>
                  <a:ext uri="{0D108BD9-81ED-4DB2-BD59-A6C34878D82A}">
                    <a16:rowId xmlns:a16="http://schemas.microsoft.com/office/drawing/2014/main" val="2401735473"/>
                  </a:ext>
                </a:extLst>
              </a:tr>
              <a:tr h="0">
                <a:tc>
                  <a:txBody>
                    <a:bodyPr/>
                    <a:lstStyle/>
                    <a:p>
                      <a:pPr>
                        <a:buNone/>
                      </a:pPr>
                      <a:r>
                        <a:rPr lang="en-IN"/>
                        <a:t>CO5</a:t>
                      </a:r>
                    </a:p>
                  </a:txBody>
                  <a:tcPr anchor="ctr">
                    <a:lnL>
                      <a:noFill/>
                    </a:lnL>
                    <a:lnR>
                      <a:noFill/>
                    </a:lnR>
                    <a:lnT>
                      <a:noFill/>
                    </a:lnT>
                    <a:lnB>
                      <a:noFill/>
                    </a:lnB>
                    <a:noFill/>
                  </a:tcPr>
                </a:tc>
                <a:tc>
                  <a:txBody>
                    <a:bodyPr/>
                    <a:lstStyle/>
                    <a:p>
                      <a:pPr>
                        <a:buNone/>
                      </a:pPr>
                      <a:r>
                        <a:rPr lang="en-IN"/>
                        <a:t>React Router, Forms, Validation, Responsive UI</a:t>
                      </a:r>
                    </a:p>
                  </a:txBody>
                  <a:tcPr anchor="ctr">
                    <a:lnL>
                      <a:noFill/>
                    </a:lnL>
                    <a:lnR>
                      <a:noFill/>
                    </a:lnR>
                    <a:lnT>
                      <a:noFill/>
                    </a:lnT>
                    <a:lnB>
                      <a:noFill/>
                    </a:lnB>
                    <a:noFill/>
                  </a:tcPr>
                </a:tc>
                <a:extLst>
                  <a:ext uri="{0D108BD9-81ED-4DB2-BD59-A6C34878D82A}">
                    <a16:rowId xmlns:a16="http://schemas.microsoft.com/office/drawing/2014/main" val="882524111"/>
                  </a:ext>
                </a:extLst>
              </a:tr>
              <a:tr h="0">
                <a:tc>
                  <a:txBody>
                    <a:bodyPr/>
                    <a:lstStyle/>
                    <a:p>
                      <a:pPr>
                        <a:buNone/>
                      </a:pPr>
                      <a:r>
                        <a:rPr lang="en-IN"/>
                        <a:t>CO6</a:t>
                      </a:r>
                    </a:p>
                  </a:txBody>
                  <a:tcPr anchor="ctr">
                    <a:lnL>
                      <a:noFill/>
                    </a:lnL>
                    <a:lnR>
                      <a:noFill/>
                    </a:lnR>
                    <a:lnT>
                      <a:noFill/>
                    </a:lnT>
                    <a:lnB>
                      <a:noFill/>
                    </a:lnB>
                    <a:noFill/>
                  </a:tcPr>
                </a:tc>
                <a:tc>
                  <a:txBody>
                    <a:bodyPr/>
                    <a:lstStyle/>
                    <a:p>
                      <a:pPr>
                        <a:buNone/>
                      </a:pPr>
                      <a:r>
                        <a:rPr lang="en-IN" dirty="0"/>
                        <a:t>React Build Tools, </a:t>
                      </a:r>
                      <a:r>
                        <a:rPr lang="en-IN" dirty="0" err="1"/>
                        <a:t>npm</a:t>
                      </a:r>
                      <a:r>
                        <a:rPr lang="en-IN" dirty="0"/>
                        <a:t>, GitHub Deployment</a:t>
                      </a:r>
                    </a:p>
                  </a:txBody>
                  <a:tcPr anchor="ctr">
                    <a:lnL>
                      <a:noFill/>
                    </a:lnL>
                    <a:lnR>
                      <a:noFill/>
                    </a:lnR>
                    <a:lnT>
                      <a:noFill/>
                    </a:lnT>
                    <a:lnB>
                      <a:noFill/>
                    </a:lnB>
                    <a:noFill/>
                  </a:tcPr>
                </a:tc>
                <a:extLst>
                  <a:ext uri="{0D108BD9-81ED-4DB2-BD59-A6C34878D82A}">
                    <a16:rowId xmlns:a16="http://schemas.microsoft.com/office/drawing/2014/main" val="255896008"/>
                  </a:ext>
                </a:extLst>
              </a:tr>
            </a:tbl>
          </a:graphicData>
        </a:graphic>
      </p:graphicFrame>
    </p:spTree>
    <p:extLst>
      <p:ext uri="{BB962C8B-B14F-4D97-AF65-F5344CB8AC3E}">
        <p14:creationId xmlns:p14="http://schemas.microsoft.com/office/powerpoint/2010/main" val="1822813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1851</TotalTime>
  <Words>920</Words>
  <Application>Microsoft Office PowerPoint</Application>
  <PresentationFormat>On-screen Show (4:3)</PresentationFormat>
  <Paragraphs>105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 A Project Review Meeting    on  Doctor Appointment Booking System </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CO’S MAPPING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Bachu Siddhartha</cp:lastModifiedBy>
  <cp:revision>198</cp:revision>
  <dcterms:created xsi:type="dcterms:W3CDTF">2006-08-16T00:00:00Z</dcterms:created>
  <dcterms:modified xsi:type="dcterms:W3CDTF">2026-06-11T09:00:01Z</dcterms:modified>
</cp:coreProperties>
</file>